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5143500" type="screen16x9"/>
  <p:notesSz cx="6858000" cy="9144000"/>
  <p:embeddedFontLst>
    <p:embeddedFont>
      <p:font typeface="Roboto" panose="02000000000000000000" pitchFamily="2" charset="0"/>
      <p:regular r:id="rId41"/>
      <p:bold r:id="rId42"/>
      <p:italic r:id="rId43"/>
      <p:boldItalic r:id="rId44"/>
    </p:embeddedFont>
    <p:embeddedFont>
      <p:font typeface="Roboto Mono" panose="00000009000000000000" pitchFamily="49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b62a78cc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b62a78ccb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c6f9e470d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c6f9e470d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b62a78ccb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b62a78ccb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b62a78ccb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b62a78ccb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b62a78ccb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b62a78ccb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b62a78ccb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b62a78ccb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b62a78ccb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b62a78ccb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b62a78ccb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b62a78ccb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b62a78ccb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b62a78ccb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b62a78ccb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b62a78ccb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b62a78ccb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b62a78ccb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b62a78ccb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b62a78ccb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b62a78ccb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b62a78ccb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b62a78ccb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b62a78ccb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b62a78ccb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b62a78ccb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b62a78ccb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b62a78ccb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b62a78ccb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ab62a78ccb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b62a78ccb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ab62a78ccb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b62a78ccb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ab62a78ccb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b62a78ccb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ab62a78ccb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b62a78ccb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ab62a78ccb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b62a78ccb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ab62a78ccb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b62a78ccb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ab62a78ccb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b62a78ccb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ab62a78ccb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b62a78ccb_4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ab62a78ccb_4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ab62a78ccb_4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ab62a78ccb_4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ab62a78ccb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ab62a78ccb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b62a78ccb_4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ab62a78ccb_4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b62a78ccb_4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ab62a78ccb_4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b62a78ccb_4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ab62a78ccb_4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ab62a78ccb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ab62a78ccb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ab62a78ccb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ab62a78ccb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b62a78ccb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b62a78ccb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742696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b62a78ccb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b62a78ccb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26968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b62a78ccb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b62a78ccb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501570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b62a78ccb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b62a78ccb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8522360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b62a78ccb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b62a78ccb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7439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598100" y="1775225"/>
            <a:ext cx="6103200" cy="79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Machine learning : King-country-houses</a:t>
            </a:r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Vitor Almeida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Maryem Tlili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Jesus Hernandez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Table of Contents</a:t>
            </a:r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fr"/>
              <a:t>Load the Data 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fr"/>
              <a:t>Explore the data 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fr"/>
              <a:t>Clean the data 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fr"/>
              <a:t>Machine Learning : </a:t>
            </a:r>
            <a:endParaRPr sz="1800"/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lphaLcPeriod"/>
            </a:pPr>
            <a:r>
              <a:rPr lang="fr" sz="1800"/>
              <a:t>XGBoost Regressor </a:t>
            </a:r>
            <a:endParaRPr sz="1800"/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lphaLcPeriod"/>
            </a:pPr>
            <a:r>
              <a:rPr lang="fr" sz="1800"/>
              <a:t>CatBoost Regressor</a:t>
            </a:r>
            <a:endParaRPr sz="1800"/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AutoNum type="alphaLcPeriod"/>
            </a:pPr>
            <a:r>
              <a:rPr lang="fr" sz="1800"/>
              <a:t>Random Forest Regressor </a:t>
            </a:r>
            <a:endParaRPr sz="1800"/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LcPeriod"/>
            </a:pPr>
            <a:r>
              <a:rPr lang="fr" sz="1800"/>
              <a:t>KNN Regressor 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2. Explore the data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2. Explore the data</a:t>
            </a:r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dataset  has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multiple features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(21 Rows)</a:t>
            </a:r>
            <a:b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 features are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numerical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except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“Date” 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which represents the date  of House Sold out.</a:t>
            </a:r>
            <a:b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dataset is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complete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with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missing or anomalous values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2. Explore the data</a:t>
            </a:r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5400200" y="1157500"/>
            <a:ext cx="3616800" cy="211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correlations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observed between: </a:t>
            </a: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sqft_above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&amp; </a:t>
            </a: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sqft_living grade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&amp; </a:t>
            </a: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bathrooms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Independent features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low correlation include </a:t>
            </a: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zipcode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200" y="1017800"/>
            <a:ext cx="4294885" cy="382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3. Clean the data 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3. Data cleaning - Feature selection </a:t>
            </a:r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1"/>
          </p:nvPr>
        </p:nvSpPr>
        <p:spPr>
          <a:xfrm>
            <a:off x="406350" y="1017800"/>
            <a:ext cx="8331300" cy="368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id, date, view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Irrelevant for model learning.</a:t>
            </a:r>
            <a:b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sqft_living, sqft_above, sqft_basement, sqft_living15, sqft_lot15, lat, long</a:t>
            </a:r>
            <a:b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Redundant with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sqft_lot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 all are correlated and describe the house size.</a:t>
            </a:r>
            <a:b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condition 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Overlaps with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grade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provides similar information.</a:t>
            </a:r>
            <a:b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zipcode 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Categorical but represented as numerical values; difficult for the model to interpret meaningfully.</a:t>
            </a:r>
            <a:b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yr_renovated 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→low variability and limited predictive value.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3. Data cleaning - Feature selection </a:t>
            </a:r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body" idx="1"/>
          </p:nvPr>
        </p:nvSpPr>
        <p:spPr>
          <a:xfrm>
            <a:off x="5305800" y="898350"/>
            <a:ext cx="3526500" cy="33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removing redundant columns,</a:t>
            </a:r>
            <a:b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highly correlated features remain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the dataset.</a:t>
            </a:r>
            <a:b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indicates a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reduced risk of multicollinearity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ensuring the model can learn more effectively from the remaining features.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28" name="Google Shape;12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900" y="1284500"/>
            <a:ext cx="4251349" cy="3245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3. Data cleaning - Removing outliers </a:t>
            </a:r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body" idx="1"/>
          </p:nvPr>
        </p:nvSpPr>
        <p:spPr>
          <a:xfrm>
            <a:off x="4656275" y="898350"/>
            <a:ext cx="4415700" cy="33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features </a:t>
            </a:r>
            <a:r>
              <a:rPr lang="fr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sqft_lot</a:t>
            </a:r>
            <a: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fr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price</a:t>
            </a:r>
            <a: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contain a </a:t>
            </a:r>
            <a:r>
              <a:rPr lang="fr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number of outliers</a:t>
            </a:r>
            <a: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will </a:t>
            </a:r>
            <a:r>
              <a:rPr lang="fr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keep these outliers for now</a:t>
            </a:r>
            <a: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as removing them could exclude an entire segment of the housing market and reduce model representativeness.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Their impact may be </a:t>
            </a:r>
            <a:r>
              <a:rPr lang="fr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reduced later</a:t>
            </a:r>
            <a: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through techniques such as </a:t>
            </a:r>
            <a:r>
              <a:rPr lang="fr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 transformation</a:t>
            </a:r>
            <a: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700"/>
          </a:p>
        </p:txBody>
      </p:sp>
      <p:pic>
        <p:nvPicPr>
          <p:cNvPr id="135" name="Google Shape;1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575" y="1126075"/>
            <a:ext cx="4415699" cy="3320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3. Data cleaning - Skewness correction  </a:t>
            </a:r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1"/>
          </p:nvPr>
        </p:nvSpPr>
        <p:spPr>
          <a:xfrm>
            <a:off x="5020725" y="898350"/>
            <a:ext cx="4051200" cy="33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dataset shows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skewed features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Skewness will be addressed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later if needed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depending on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performance and sensitivity to the skewness 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700"/>
          </a:p>
        </p:txBody>
      </p:sp>
      <p:pic>
        <p:nvPicPr>
          <p:cNvPr id="142" name="Google Shape;14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46400"/>
            <a:ext cx="4351475" cy="2429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3. 1 Multilinear Regression - Initial model </a:t>
            </a:r>
            <a:endParaRPr/>
          </a:p>
        </p:txBody>
      </p:sp>
      <p:sp>
        <p:nvSpPr>
          <p:cNvPr id="148" name="Google Shape;148;p23"/>
          <p:cNvSpPr txBox="1">
            <a:spLocks noGrp="1"/>
          </p:cNvSpPr>
          <p:nvPr>
            <p:ph type="body" idx="1"/>
          </p:nvPr>
        </p:nvSpPr>
        <p:spPr>
          <a:xfrm>
            <a:off x="4939175" y="1170200"/>
            <a:ext cx="4051200" cy="33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built an initial Multilinear model to measure the impact of the cleaning.  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R² score is low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at this stage.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improve it, we will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replace </a:t>
            </a:r>
            <a:r>
              <a:rPr lang="fr" sz="16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year_built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a new feature </a:t>
            </a:r>
            <a:r>
              <a:rPr lang="fr" sz="16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house_age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which is easier for the model to interpret.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700"/>
          </a:p>
        </p:txBody>
      </p:sp>
      <p:pic>
        <p:nvPicPr>
          <p:cNvPr id="149" name="Google Shape;14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200"/>
            <a:ext cx="4786774" cy="273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>
            <a:spLocks noGrp="1"/>
          </p:cNvSpPr>
          <p:nvPr>
            <p:ph type="title"/>
          </p:nvPr>
        </p:nvSpPr>
        <p:spPr>
          <a:xfrm>
            <a:off x="375200" y="290550"/>
            <a:ext cx="86967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/>
              <a:t>3. 1 </a:t>
            </a:r>
            <a:r>
              <a:rPr lang="fr" sz="2700"/>
              <a:t>Multilinear Regression</a:t>
            </a:r>
            <a:r>
              <a:rPr lang="fr" sz="2600"/>
              <a:t> - Feature Engineering impact </a:t>
            </a:r>
            <a:r>
              <a:rPr lang="fr" sz="2900"/>
              <a:t> </a:t>
            </a:r>
            <a:endParaRPr sz="2900"/>
          </a:p>
        </p:txBody>
      </p:sp>
      <p:sp>
        <p:nvSpPr>
          <p:cNvPr id="155" name="Google Shape;155;p24"/>
          <p:cNvSpPr txBox="1">
            <a:spLocks noGrp="1"/>
          </p:cNvSpPr>
          <p:nvPr>
            <p:ph type="body" idx="1"/>
          </p:nvPr>
        </p:nvSpPr>
        <p:spPr>
          <a:xfrm>
            <a:off x="5020725" y="898350"/>
            <a:ext cx="4051200" cy="33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Dropping </a:t>
            </a:r>
            <a:r>
              <a:rPr lang="fr" sz="16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year_built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slightly increased the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R² score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by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0.000024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score remains low.</a:t>
            </a:r>
            <a:b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step: build a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StatModel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analyze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p-values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identify the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 significant features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50">
              <a:solidFill>
                <a:srgbClr val="6796E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700"/>
          </a:p>
        </p:txBody>
      </p:sp>
      <p:pic>
        <p:nvPicPr>
          <p:cNvPr id="156" name="Google Shape;15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200"/>
            <a:ext cx="4868324" cy="26035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>
            <a:spLocks noGrp="1"/>
          </p:cNvSpPr>
          <p:nvPr>
            <p:ph type="title"/>
          </p:nvPr>
        </p:nvSpPr>
        <p:spPr>
          <a:xfrm>
            <a:off x="375200" y="290550"/>
            <a:ext cx="86967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900"/>
              <a:t>3. 1 Multilinear regression- Feature selection impact  </a:t>
            </a:r>
            <a:endParaRPr sz="2900"/>
          </a:p>
        </p:txBody>
      </p:sp>
      <p:sp>
        <p:nvSpPr>
          <p:cNvPr id="162" name="Google Shape;162;p25"/>
          <p:cNvSpPr txBox="1">
            <a:spLocks noGrp="1"/>
          </p:cNvSpPr>
          <p:nvPr>
            <p:ph type="body" idx="1"/>
          </p:nvPr>
        </p:nvSpPr>
        <p:spPr>
          <a:xfrm>
            <a:off x="5020725" y="898350"/>
            <a:ext cx="4051200" cy="33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lang="fr" sz="16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bedrooms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fr" sz="16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floors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have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p-values &gt; 0.05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indicating they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not significantly impact the model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6195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These features will be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removed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improve model performance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6796E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700"/>
          </a:p>
        </p:txBody>
      </p:sp>
      <p:pic>
        <p:nvPicPr>
          <p:cNvPr id="163" name="Google Shape;16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500" y="898350"/>
            <a:ext cx="4715925" cy="3758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5"/>
          <p:cNvSpPr/>
          <p:nvPr/>
        </p:nvSpPr>
        <p:spPr>
          <a:xfrm>
            <a:off x="190500" y="3056475"/>
            <a:ext cx="3314700" cy="152400"/>
          </a:xfrm>
          <a:prstGeom prst="flowChartProcess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25"/>
          <p:cNvSpPr/>
          <p:nvPr/>
        </p:nvSpPr>
        <p:spPr>
          <a:xfrm>
            <a:off x="190500" y="3488275"/>
            <a:ext cx="3314700" cy="152400"/>
          </a:xfrm>
          <a:prstGeom prst="flowChartProcess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>
            <a:spLocks noGrp="1"/>
          </p:cNvSpPr>
          <p:nvPr>
            <p:ph type="title"/>
          </p:nvPr>
        </p:nvSpPr>
        <p:spPr>
          <a:xfrm>
            <a:off x="375200" y="290550"/>
            <a:ext cx="86967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800"/>
              <a:t>3. 1 Multilinear regression - Feature selection impact </a:t>
            </a:r>
            <a:r>
              <a:rPr lang="fr" sz="2900"/>
              <a:t> </a:t>
            </a:r>
            <a:endParaRPr sz="2900"/>
          </a:p>
        </p:txBody>
      </p:sp>
      <p:sp>
        <p:nvSpPr>
          <p:cNvPr id="171" name="Google Shape;171;p26"/>
          <p:cNvSpPr txBox="1">
            <a:spLocks noGrp="1"/>
          </p:cNvSpPr>
          <p:nvPr>
            <p:ph type="body" idx="1"/>
          </p:nvPr>
        </p:nvSpPr>
        <p:spPr>
          <a:xfrm>
            <a:off x="5020725" y="898350"/>
            <a:ext cx="4051200" cy="33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removing </a:t>
            </a:r>
            <a:r>
              <a:rPr lang="fr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floors</a:t>
            </a:r>
            <a:r>
              <a:rPr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fr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bedrooms</a:t>
            </a:r>
            <a:r>
              <a:rPr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fr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R² score</a:t>
            </a:r>
            <a:r>
              <a:rPr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remained the same.</a:t>
            </a:r>
            <a:br>
              <a:rPr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fr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MSE (Mean Squared Error)</a:t>
            </a:r>
            <a:r>
              <a:rPr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decreased slightly, indicating a </a:t>
            </a:r>
            <a:r>
              <a:rPr lang="fr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minor improvement in model accuracy</a:t>
            </a:r>
            <a:r>
              <a:rPr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6796E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700"/>
          </a:p>
        </p:txBody>
      </p:sp>
      <p:pic>
        <p:nvPicPr>
          <p:cNvPr id="172" name="Google Shape;17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900" y="1050750"/>
            <a:ext cx="4715925" cy="2586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>
            <a:spLocks noGrp="1"/>
          </p:cNvSpPr>
          <p:nvPr>
            <p:ph type="title"/>
          </p:nvPr>
        </p:nvSpPr>
        <p:spPr>
          <a:xfrm>
            <a:off x="375200" y="290550"/>
            <a:ext cx="86967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800"/>
              <a:t>3. 1 Multilinear regression - Skewness correction </a:t>
            </a:r>
            <a:r>
              <a:rPr lang="fr" sz="2900"/>
              <a:t> </a:t>
            </a:r>
            <a:endParaRPr sz="2900"/>
          </a:p>
        </p:txBody>
      </p:sp>
      <p:sp>
        <p:nvSpPr>
          <p:cNvPr id="178" name="Google Shape;178;p27"/>
          <p:cNvSpPr txBox="1">
            <a:spLocks noGrp="1"/>
          </p:cNvSpPr>
          <p:nvPr>
            <p:ph type="body" idx="1"/>
          </p:nvPr>
        </p:nvSpPr>
        <p:spPr>
          <a:xfrm>
            <a:off x="156625" y="898350"/>
            <a:ext cx="4127400" cy="21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Right-skewed features:</a:t>
            </a:r>
            <a:endParaRPr sz="16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sqft_lot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(skewness = 13.06) 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price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(skewness = 4.02) 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bathrooms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(skewness = 1.10)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waterfront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(skewness = 5.22)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grade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(skewness = 0.67)</a:t>
            </a:r>
            <a:b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700"/>
          </a:p>
        </p:txBody>
      </p:sp>
      <p:sp>
        <p:nvSpPr>
          <p:cNvPr id="179" name="Google Shape;179;p27"/>
          <p:cNvSpPr txBox="1"/>
          <p:nvPr/>
        </p:nvSpPr>
        <p:spPr>
          <a:xfrm>
            <a:off x="4474825" y="1037175"/>
            <a:ext cx="3784500" cy="22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 b="1"/>
              <a:t>Left-skewed feature:</a:t>
            </a:r>
            <a:endParaRPr sz="1500" b="1"/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fr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house_age</a:t>
            </a:r>
            <a:r>
              <a:rPr lang="fr" sz="1500"/>
              <a:t> (skewness = -0.60)</a:t>
            </a:r>
            <a:br>
              <a:rPr lang="fr" sz="1500"/>
            </a:br>
            <a:endParaRPr sz="15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200"/>
          </a:p>
          <a:p>
            <a:pPr marL="457200" lvl="0" indent="0" algn="l" rtl="0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6796E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500"/>
            </a:b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p27"/>
          <p:cNvSpPr txBox="1"/>
          <p:nvPr/>
        </p:nvSpPr>
        <p:spPr>
          <a:xfrm>
            <a:off x="397925" y="3323175"/>
            <a:ext cx="621030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/>
              <a:t>Skewness may be contributing to </a:t>
            </a:r>
            <a:r>
              <a:rPr lang="fr" sz="1500" b="1"/>
              <a:t>low model performance</a:t>
            </a:r>
            <a:r>
              <a:rPr lang="fr" sz="1500"/>
              <a:t>.</a:t>
            </a:r>
            <a:endParaRPr sz="15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500" b="1"/>
              <a:t>Log transformation</a:t>
            </a:r>
            <a:r>
              <a:rPr lang="fr" sz="1500"/>
              <a:t> is considered for </a:t>
            </a:r>
            <a:r>
              <a:rPr lang="fr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sqft_lot</a:t>
            </a:r>
            <a:r>
              <a:rPr lang="fr" sz="1500"/>
              <a:t> and </a:t>
            </a:r>
            <a:r>
              <a:rPr lang="fr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price</a:t>
            </a:r>
            <a:r>
              <a:rPr lang="fr" sz="1500"/>
              <a:t> due to </a:t>
            </a:r>
            <a:r>
              <a:rPr lang="fr" sz="1500" b="1"/>
              <a:t>high skewness and outliers</a:t>
            </a:r>
            <a:r>
              <a:rPr lang="fr" sz="1500"/>
              <a:t>.</a:t>
            </a: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>
            <a:spLocks noGrp="1"/>
          </p:cNvSpPr>
          <p:nvPr>
            <p:ph type="title"/>
          </p:nvPr>
        </p:nvSpPr>
        <p:spPr>
          <a:xfrm>
            <a:off x="375200" y="290550"/>
            <a:ext cx="86967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700"/>
              <a:t>3. 1 Multilinear regression - skewness correction impact </a:t>
            </a:r>
            <a:r>
              <a:rPr lang="fr" sz="2800"/>
              <a:t> </a:t>
            </a:r>
            <a:endParaRPr sz="2800"/>
          </a:p>
        </p:txBody>
      </p:sp>
      <p:sp>
        <p:nvSpPr>
          <p:cNvPr id="186" name="Google Shape;186;p28"/>
          <p:cNvSpPr txBox="1">
            <a:spLocks noGrp="1"/>
          </p:cNvSpPr>
          <p:nvPr>
            <p:ph type="body" idx="1"/>
          </p:nvPr>
        </p:nvSpPr>
        <p:spPr>
          <a:xfrm>
            <a:off x="5020725" y="898350"/>
            <a:ext cx="4051200" cy="33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R² score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improved significantly to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0.63</a:t>
            </a:r>
            <a:b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MSE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decreased considerably →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performance improved</a:t>
            </a:r>
            <a:b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steps: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Apply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Ridge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regression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further enhance performance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6796E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700"/>
          </a:p>
        </p:txBody>
      </p:sp>
      <p:pic>
        <p:nvPicPr>
          <p:cNvPr id="187" name="Google Shape;1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50750"/>
            <a:ext cx="4715927" cy="3128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 txBox="1">
            <a:spLocks noGrp="1"/>
          </p:cNvSpPr>
          <p:nvPr>
            <p:ph type="title"/>
          </p:nvPr>
        </p:nvSpPr>
        <p:spPr>
          <a:xfrm>
            <a:off x="375200" y="290550"/>
            <a:ext cx="86967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700"/>
              <a:t>3. 1 Multilinear regression - Ridge Regression </a:t>
            </a:r>
            <a:r>
              <a:rPr lang="fr" sz="2800"/>
              <a:t> </a:t>
            </a:r>
            <a:endParaRPr sz="2800"/>
          </a:p>
        </p:txBody>
      </p:sp>
      <p:sp>
        <p:nvSpPr>
          <p:cNvPr id="193" name="Google Shape;193;p29"/>
          <p:cNvSpPr txBox="1">
            <a:spLocks noGrp="1"/>
          </p:cNvSpPr>
          <p:nvPr>
            <p:ph type="body" idx="1"/>
          </p:nvPr>
        </p:nvSpPr>
        <p:spPr>
          <a:xfrm>
            <a:off x="5020725" y="898350"/>
            <a:ext cx="4051200" cy="33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Applying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Ridge regression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slightly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decreased the R² score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by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0.00004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Indicates that we may have reached the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maximum performance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 regression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on this dataset.</a:t>
            </a:r>
            <a:b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step: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Explore a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different model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using the same dataset for potential improvement.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6796E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700"/>
          </a:p>
        </p:txBody>
      </p:sp>
      <p:pic>
        <p:nvPicPr>
          <p:cNvPr id="194" name="Google Shape;19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800" y="822150"/>
            <a:ext cx="4539711" cy="394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4. Machine Learning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XGBoost  Regressor 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 txBox="1">
            <a:spLocks noGrp="1"/>
          </p:cNvSpPr>
          <p:nvPr>
            <p:ph type="title"/>
          </p:nvPr>
        </p:nvSpPr>
        <p:spPr>
          <a:xfrm>
            <a:off x="375225" y="138150"/>
            <a:ext cx="86967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700"/>
              <a:t>4.a  Machine Learning - XGBoost Regressor  </a:t>
            </a:r>
            <a:r>
              <a:rPr lang="fr" sz="2800"/>
              <a:t> </a:t>
            </a:r>
            <a:endParaRPr sz="2800"/>
          </a:p>
        </p:txBody>
      </p:sp>
      <p:sp>
        <p:nvSpPr>
          <p:cNvPr id="205" name="Google Shape;205;p31"/>
          <p:cNvSpPr txBox="1">
            <a:spLocks noGrp="1"/>
          </p:cNvSpPr>
          <p:nvPr>
            <p:ph type="body" idx="1"/>
          </p:nvPr>
        </p:nvSpPr>
        <p:spPr>
          <a:xfrm>
            <a:off x="5020725" y="898350"/>
            <a:ext cx="4051200" cy="33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Using the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same dataset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XGBoost Regressor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achieved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R² = 0.70</a:t>
            </a:r>
            <a:endParaRPr sz="16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goal: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Improve XGBoost performance by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changing hyperparameters</a:t>
            </a:r>
            <a:endParaRPr sz="16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Hyperparameter optimization methods:</a:t>
            </a:r>
            <a:endParaRPr sz="16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 Search / Optuna </a:t>
            </a:r>
            <a:endParaRPr sz="16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Calculations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will be performed using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 Colab</a:t>
            </a:r>
            <a:endParaRPr sz="16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6796E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700"/>
          </a:p>
        </p:txBody>
      </p:sp>
      <p:pic>
        <p:nvPicPr>
          <p:cNvPr id="206" name="Google Shape;20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8350"/>
            <a:ext cx="4715925" cy="3266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/>
          <p:cNvSpPr txBox="1">
            <a:spLocks noGrp="1"/>
          </p:cNvSpPr>
          <p:nvPr>
            <p:ph type="title"/>
          </p:nvPr>
        </p:nvSpPr>
        <p:spPr>
          <a:xfrm>
            <a:off x="375225" y="138150"/>
            <a:ext cx="86967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700"/>
              <a:t>4.a  Machine Learning - XGBoost Regressor   </a:t>
            </a:r>
            <a:r>
              <a:rPr lang="fr" sz="2800"/>
              <a:t> </a:t>
            </a:r>
            <a:endParaRPr sz="2800"/>
          </a:p>
        </p:txBody>
      </p:sp>
      <p:sp>
        <p:nvSpPr>
          <p:cNvPr id="212" name="Google Shape;212;p32"/>
          <p:cNvSpPr txBox="1">
            <a:spLocks noGrp="1"/>
          </p:cNvSpPr>
          <p:nvPr>
            <p:ph type="body" idx="1"/>
          </p:nvPr>
        </p:nvSpPr>
        <p:spPr>
          <a:xfrm>
            <a:off x="5020725" y="898350"/>
            <a:ext cx="4051200" cy="33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Using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 Search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hyperparameter: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R² score decreased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slightly to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0.69</a:t>
            </a:r>
            <a:endParaRPr sz="16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Features 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might be very reduced and that is limiting the model performance 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6796E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700"/>
          </a:p>
        </p:txBody>
      </p:sp>
      <p:pic>
        <p:nvPicPr>
          <p:cNvPr id="213" name="Google Shape;21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8350"/>
            <a:ext cx="4715925" cy="3084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4. Machine Learning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CatBoost Regressor    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>
            <a:spLocks noGrp="1"/>
          </p:cNvSpPr>
          <p:nvPr>
            <p:ph type="title"/>
          </p:nvPr>
        </p:nvSpPr>
        <p:spPr>
          <a:xfrm>
            <a:off x="375225" y="138150"/>
            <a:ext cx="86967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700"/>
              <a:t>4. Machine Learning - Adding features  </a:t>
            </a:r>
            <a:r>
              <a:rPr lang="fr" sz="2800"/>
              <a:t> </a:t>
            </a:r>
            <a:endParaRPr sz="2800"/>
          </a:p>
        </p:txBody>
      </p:sp>
      <p:sp>
        <p:nvSpPr>
          <p:cNvPr id="224" name="Google Shape;224;p34"/>
          <p:cNvSpPr txBox="1">
            <a:spLocks noGrp="1"/>
          </p:cNvSpPr>
          <p:nvPr>
            <p:ph type="body" idx="1"/>
          </p:nvPr>
        </p:nvSpPr>
        <p:spPr>
          <a:xfrm>
            <a:off x="588425" y="898350"/>
            <a:ext cx="8483400" cy="33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features to add: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condition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yr_renovated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lat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long</a:t>
            </a:r>
            <a:b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2286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cleaning:</a:t>
            </a:r>
            <a:endParaRPr sz="16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 </a:t>
            </a: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yr_renovated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into a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binary feature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house not renovated</a:t>
            </a:r>
            <a:b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house renovated</a:t>
            </a:r>
            <a:b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model: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Apply </a:t>
            </a: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CatBoost Regressor</a:t>
            </a: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on the updated dataset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6796E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7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5"/>
          <p:cNvSpPr txBox="1">
            <a:spLocks noGrp="1"/>
          </p:cNvSpPr>
          <p:nvPr>
            <p:ph type="title"/>
          </p:nvPr>
        </p:nvSpPr>
        <p:spPr>
          <a:xfrm>
            <a:off x="375225" y="138150"/>
            <a:ext cx="86967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700"/>
              <a:t>4.b  Machine Learning - CatBoost Regressor   </a:t>
            </a:r>
            <a:r>
              <a:rPr lang="fr" sz="2800"/>
              <a:t> </a:t>
            </a:r>
            <a:endParaRPr sz="2800"/>
          </a:p>
        </p:txBody>
      </p:sp>
      <p:sp>
        <p:nvSpPr>
          <p:cNvPr id="230" name="Google Shape;230;p35"/>
          <p:cNvSpPr txBox="1">
            <a:spLocks noGrp="1"/>
          </p:cNvSpPr>
          <p:nvPr>
            <p:ph type="body" idx="1"/>
          </p:nvPr>
        </p:nvSpPr>
        <p:spPr>
          <a:xfrm>
            <a:off x="5020725" y="898350"/>
            <a:ext cx="4051200" cy="33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R² score reached 0.88 </a:t>
            </a:r>
            <a:endParaRPr sz="16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6796E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700"/>
          </a:p>
        </p:txBody>
      </p:sp>
      <p:pic>
        <p:nvPicPr>
          <p:cNvPr id="231" name="Google Shape;23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800" y="1136938"/>
            <a:ext cx="4715924" cy="2209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6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4. Machine Learning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Random Forest Regressor    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7"/>
          <p:cNvSpPr txBox="1">
            <a:spLocks noGrp="1"/>
          </p:cNvSpPr>
          <p:nvPr>
            <p:ph type="title"/>
          </p:nvPr>
        </p:nvSpPr>
        <p:spPr>
          <a:xfrm>
            <a:off x="375225" y="138150"/>
            <a:ext cx="86967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700"/>
              <a:t>4.c  Machine Learning - Random Forest Regressor  </a:t>
            </a:r>
            <a:r>
              <a:rPr lang="fr" sz="2800"/>
              <a:t> </a:t>
            </a:r>
            <a:endParaRPr sz="2800"/>
          </a:p>
        </p:txBody>
      </p:sp>
      <p:sp>
        <p:nvSpPr>
          <p:cNvPr id="242" name="Google Shape;242;p37"/>
          <p:cNvSpPr txBox="1"/>
          <p:nvPr/>
        </p:nvSpPr>
        <p:spPr>
          <a:xfrm>
            <a:off x="651925" y="1595975"/>
            <a:ext cx="72897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 had to make some specific data processing before running the Random Forest regressor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8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/>
              <a:t>4.C.1 . Feature Engineering and Normalization</a:t>
            </a:r>
            <a:endParaRPr sz="2400"/>
          </a:p>
        </p:txBody>
      </p:sp>
      <p:sp>
        <p:nvSpPr>
          <p:cNvPr id="248" name="Google Shape;248;p38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51915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fr" b="1"/>
              <a:t>Binary feature for renovation</a:t>
            </a:r>
            <a:endParaRPr b="1"/>
          </a:p>
        </p:txBody>
      </p:sp>
      <p:pic>
        <p:nvPicPr>
          <p:cNvPr id="249" name="Google Shape;24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8" y="1229875"/>
            <a:ext cx="4886826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277700"/>
            <a:ext cx="39597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2496850"/>
            <a:ext cx="4886825" cy="12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8"/>
          <p:cNvSpPr txBox="1"/>
          <p:nvPr/>
        </p:nvSpPr>
        <p:spPr>
          <a:xfrm>
            <a:off x="5262025" y="1143000"/>
            <a:ext cx="3810000" cy="28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b="1"/>
              <a:t>Binary feature for renovation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b="1"/>
              <a:t>House age: </a:t>
            </a:r>
            <a:r>
              <a:rPr lang="fr" sz="1600"/>
              <a:t>Transform </a:t>
            </a: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yr_built</a:t>
            </a:r>
            <a:r>
              <a:rPr lang="fr" sz="1600"/>
              <a:t> → </a:t>
            </a: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house_age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b="1"/>
              <a:t>Handling bad values:</a:t>
            </a:r>
            <a:endParaRPr sz="1600" b="1"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fr" sz="1600"/>
              <a:t>Replace </a:t>
            </a:r>
            <a:r>
              <a:rPr lang="fr" sz="1600" b="1"/>
              <a:t>infinities</a:t>
            </a:r>
            <a:r>
              <a:rPr lang="fr" sz="1600"/>
              <a:t> or </a:t>
            </a:r>
            <a:r>
              <a:rPr lang="fr" sz="1600" b="1"/>
              <a:t>NaNs</a:t>
            </a:r>
            <a:r>
              <a:rPr lang="fr" sz="1600"/>
              <a:t> with the </a:t>
            </a:r>
            <a:r>
              <a:rPr lang="fr" sz="1600" b="1"/>
              <a:t>column median</a:t>
            </a:r>
            <a:endParaRPr sz="160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9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300"/>
              <a:t>4.C.2. Feature Engineering and Standardization</a:t>
            </a:r>
            <a:endParaRPr sz="2300"/>
          </a:p>
        </p:txBody>
      </p:sp>
      <p:sp>
        <p:nvSpPr>
          <p:cNvPr id="258" name="Google Shape;258;p39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9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59" name="Google Shape;25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29875"/>
            <a:ext cx="8186589" cy="96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9"/>
          <p:cNvSpPr txBox="1"/>
          <p:nvPr/>
        </p:nvSpPr>
        <p:spPr>
          <a:xfrm>
            <a:off x="448725" y="2408075"/>
            <a:ext cx="7631400" cy="20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Limiting </a:t>
            </a:r>
            <a:r>
              <a:rPr lang="fr" sz="1600" b="1"/>
              <a:t>Top 1%  </a:t>
            </a:r>
            <a:r>
              <a:rPr lang="fr" sz="1600"/>
              <a:t>on the rows mentioned ( with more outliers ) reduced data size : </a:t>
            </a:r>
            <a:br>
              <a:rPr lang="fr" sz="1600"/>
            </a:br>
            <a:endParaRPr sz="1600" b="1"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fr" sz="1600"/>
              <a:t>From </a:t>
            </a:r>
            <a:r>
              <a:rPr lang="fr" sz="1600" b="1"/>
              <a:t>21,613 rows</a:t>
            </a:r>
            <a:r>
              <a:rPr lang="fr" sz="1600"/>
              <a:t> → </a:t>
            </a:r>
            <a:r>
              <a:rPr lang="fr" sz="1600" b="1"/>
              <a:t>20,536 rows</a:t>
            </a:r>
            <a:br>
              <a:rPr lang="fr" sz="1600" b="1"/>
            </a:br>
            <a:endParaRPr sz="16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	</a:t>
            </a:r>
            <a:endParaRPr sz="1600"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0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700"/>
              <a:t>4.c  Machine Learning - Random Forest Regressor</a:t>
            </a:r>
            <a:endParaRPr/>
          </a:p>
        </p:txBody>
      </p:sp>
      <p:sp>
        <p:nvSpPr>
          <p:cNvPr id="266" name="Google Shape;266;p40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4856700" cy="188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67" name="Google Shape;26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75" y="1273963"/>
            <a:ext cx="4856650" cy="965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1" y="2361363"/>
            <a:ext cx="4856650" cy="754138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40"/>
          <p:cNvSpPr txBox="1"/>
          <p:nvPr/>
        </p:nvSpPr>
        <p:spPr>
          <a:xfrm>
            <a:off x="5350925" y="1273975"/>
            <a:ext cx="3632100" cy="22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I used np.log1p() to shrink the large numbers while keeping the small ones meaningful, also won’t</a:t>
            </a:r>
            <a:r>
              <a:rPr lang="f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crash if divided by 0. 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Split the data 80% training and 20% testing. </a:t>
            </a:r>
            <a:endParaRPr sz="2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700"/>
              <a:t>4.c  Machine Learning - Random Forest Regressor</a:t>
            </a:r>
            <a:endParaRPr/>
          </a:p>
        </p:txBody>
      </p:sp>
      <p:sp>
        <p:nvSpPr>
          <p:cNvPr id="275" name="Google Shape;275;p4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24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76" name="Google Shape;27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29875"/>
            <a:ext cx="4057650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3495" y="1229875"/>
            <a:ext cx="4308805" cy="24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41"/>
          <p:cNvSpPr txBox="1"/>
          <p:nvPr/>
        </p:nvSpPr>
        <p:spPr>
          <a:xfrm>
            <a:off x="146600" y="3687325"/>
            <a:ext cx="73380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b="1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RandomForestRegressor Performance</a:t>
            </a:r>
            <a:endParaRPr sz="1600" b="1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 MSE : 8988373363.432673   _   RMSE: 94807.0322467309 </a:t>
            </a:r>
            <a:endParaRPr sz="1600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 R² : 0.8491315430228875 </a:t>
            </a:r>
            <a:endParaRPr sz="1600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An R2 of approximately of 0.85 means the model is a good house predictor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2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/>
              <a:t>4.C Machine learning - Random Forest Regressor - Evaluation</a:t>
            </a:r>
            <a:endParaRPr sz="2400"/>
          </a:p>
        </p:txBody>
      </p:sp>
      <p:sp>
        <p:nvSpPr>
          <p:cNvPr id="284" name="Google Shape;284;p42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23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85" name="Google Shape;28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229863"/>
            <a:ext cx="3933825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1050" y="1229863"/>
            <a:ext cx="2381250" cy="187642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2"/>
          <p:cNvSpPr txBox="1"/>
          <p:nvPr/>
        </p:nvSpPr>
        <p:spPr>
          <a:xfrm>
            <a:off x="252725" y="3544450"/>
            <a:ext cx="8490600" cy="9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b="1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Feature importance: </a:t>
            </a:r>
            <a:endParaRPr sz="1600" b="1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- The model creates a score for each column. </a:t>
            </a:r>
            <a:endParaRPr sz="1600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- The score will tell how much it helped  reduce prediction error across all the trees. </a:t>
            </a:r>
            <a:endParaRPr sz="1600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- The higher the number the more the model relied on the column.</a:t>
            </a:r>
            <a:endParaRPr sz="1600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3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/>
              <a:t>4.C Machine learning - Random Forest Regressor - Evaluation</a:t>
            </a:r>
            <a:endParaRPr/>
          </a:p>
        </p:txBody>
      </p:sp>
      <p:pic>
        <p:nvPicPr>
          <p:cNvPr id="293" name="Google Shape;29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29875"/>
            <a:ext cx="2822373" cy="2028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0625" y="1229869"/>
            <a:ext cx="2611675" cy="20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3338400"/>
            <a:ext cx="3844675" cy="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700" y="3608225"/>
            <a:ext cx="3844675" cy="960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43"/>
          <p:cNvSpPr txBox="1"/>
          <p:nvPr/>
        </p:nvSpPr>
        <p:spPr>
          <a:xfrm>
            <a:off x="4156375" y="3338400"/>
            <a:ext cx="4505100" cy="1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With this test the model is off by 19% of a house pricing.</a:t>
            </a:r>
            <a:endParaRPr sz="1600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b="1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Predicted price:</a:t>
            </a:r>
            <a:r>
              <a:rPr lang="fr" sz="160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 406936.29</a:t>
            </a:r>
            <a:endParaRPr sz="1600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b="1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Actual price: </a:t>
            </a:r>
            <a:r>
              <a:rPr lang="fr" sz="160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538250</a:t>
            </a:r>
            <a:endParaRPr sz="1600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/>
              <a:t>4.C Machine learning - Random Forest Regressor - Evaluation</a:t>
            </a:r>
            <a:endParaRPr/>
          </a:p>
        </p:txBody>
      </p:sp>
      <p:pic>
        <p:nvPicPr>
          <p:cNvPr id="303" name="Google Shape;30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29875"/>
            <a:ext cx="2822373" cy="2028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0625" y="1229869"/>
            <a:ext cx="2611675" cy="20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3338400"/>
            <a:ext cx="3844675" cy="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700" y="3608225"/>
            <a:ext cx="3844675" cy="9606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44"/>
          <p:cNvSpPr txBox="1"/>
          <p:nvPr/>
        </p:nvSpPr>
        <p:spPr>
          <a:xfrm>
            <a:off x="4156375" y="3338400"/>
            <a:ext cx="4505100" cy="1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With this test the model is off by 19% of a house pricing.</a:t>
            </a:r>
            <a:endParaRPr sz="1600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b="1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Predicted price:</a:t>
            </a:r>
            <a:r>
              <a:rPr lang="fr" sz="160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 406936.29</a:t>
            </a:r>
            <a:endParaRPr sz="1600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b="1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Actual price: </a:t>
            </a:r>
            <a:r>
              <a:rPr lang="fr" sz="160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538250</a:t>
            </a:r>
            <a:endParaRPr sz="1600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5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4. Machine Learning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KNN Regressor     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4.d Data cleaning - Removing outliers </a:t>
            </a:r>
            <a:endParaRPr dirty="0"/>
          </a:p>
        </p:txBody>
      </p:sp>
      <p:sp>
        <p:nvSpPr>
          <p:cNvPr id="134" name="Google Shape;134;p21"/>
          <p:cNvSpPr txBox="1">
            <a:spLocks noGrp="1"/>
          </p:cNvSpPr>
          <p:nvPr>
            <p:ph type="body" idx="1"/>
          </p:nvPr>
        </p:nvSpPr>
        <p:spPr>
          <a:xfrm>
            <a:off x="178350" y="3467823"/>
            <a:ext cx="7479750" cy="1208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●"/>
            </a:pPr>
            <a:r>
              <a:rPr lang="fr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Many features contain a </a:t>
            </a:r>
            <a:r>
              <a:rPr lang="fr" sz="15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number of outliers</a:t>
            </a:r>
            <a:r>
              <a:rPr lang="fr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5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●"/>
            </a:pPr>
            <a:endParaRPr lang="fr" sz="15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indent="-387350">
              <a:buClr>
                <a:srgbClr val="000000"/>
              </a:buClr>
              <a:buSzPts val="2500"/>
              <a:buFont typeface="Arial"/>
              <a:buChar char="●"/>
            </a:pPr>
            <a:r>
              <a:rPr lang="fr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KNN is </a:t>
            </a:r>
            <a:r>
              <a:rPr lang="fr" sz="15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500" b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ighly</a:t>
            </a:r>
            <a:r>
              <a:rPr lang="en-US" sz="15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sensitive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outliers also variables need to be </a:t>
            </a:r>
            <a:r>
              <a:rPr lang="en-US" sz="15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normalized</a:t>
            </a:r>
            <a:br>
              <a:rPr lang="fr" sz="15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fr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5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7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24" y="1017800"/>
            <a:ext cx="2992900" cy="2295525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4848" y="1017800"/>
            <a:ext cx="2953226" cy="245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9975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>
            <a:spLocks noGrp="1"/>
          </p:cNvSpPr>
          <p:nvPr>
            <p:ph type="title"/>
          </p:nvPr>
        </p:nvSpPr>
        <p:spPr>
          <a:xfrm>
            <a:off x="375200" y="290550"/>
            <a:ext cx="86967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800" dirty="0"/>
              <a:t>4.d KNN – model splitting data and treatment</a:t>
            </a:r>
            <a:endParaRPr sz="29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41" y="1004774"/>
            <a:ext cx="4420217" cy="1629002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941" y="2819332"/>
            <a:ext cx="4420217" cy="1208746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4896158" y="1218894"/>
            <a:ext cx="417574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330200">
              <a:spcBef>
                <a:spcPts val="1200"/>
              </a:spcBef>
              <a:buSzPts val="1600"/>
              <a:buFont typeface="Arial"/>
              <a:buChar char="●"/>
            </a:pPr>
            <a:r>
              <a:rPr lang="en-US" dirty="0"/>
              <a:t>Grouping </a:t>
            </a:r>
            <a:r>
              <a:rPr lang="en-US" dirty="0" err="1"/>
              <a:t>zipcode</a:t>
            </a:r>
            <a:r>
              <a:rPr lang="en-US" dirty="0"/>
              <a:t> by its price mean reduced the number of categories, giving the KNN model a smoother, more compact representation.</a:t>
            </a:r>
          </a:p>
          <a:p>
            <a:pPr marL="457200" lvl="0" indent="-330200">
              <a:spcBef>
                <a:spcPts val="1200"/>
              </a:spcBef>
              <a:buSzPts val="1600"/>
              <a:buFont typeface="Arial"/>
              <a:buChar char="●"/>
            </a:pPr>
            <a:r>
              <a:rPr lang="en-US" dirty="0"/>
              <a:t>Applying log1p reduced feature skewness, making distributions more normal and stabilizing the model against extreme values.</a:t>
            </a:r>
          </a:p>
        </p:txBody>
      </p:sp>
    </p:spTree>
    <p:extLst>
      <p:ext uri="{BB962C8B-B14F-4D97-AF65-F5344CB8AC3E}">
        <p14:creationId xmlns:p14="http://schemas.microsoft.com/office/powerpoint/2010/main" val="17495907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>
            <a:spLocks noGrp="1"/>
          </p:cNvSpPr>
          <p:nvPr>
            <p:ph type="title"/>
          </p:nvPr>
        </p:nvSpPr>
        <p:spPr>
          <a:xfrm>
            <a:off x="375200" y="290550"/>
            <a:ext cx="86967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800" dirty="0"/>
              <a:t>4.d 1 KNN – model splitting data and treatment</a:t>
            </a:r>
            <a:endParaRPr sz="2900" dirty="0"/>
          </a:p>
        </p:txBody>
      </p:sp>
      <p:sp>
        <p:nvSpPr>
          <p:cNvPr id="171" name="Google Shape;171;p26"/>
          <p:cNvSpPr txBox="1">
            <a:spLocks noGrp="1"/>
          </p:cNvSpPr>
          <p:nvPr>
            <p:ph type="body" idx="1"/>
          </p:nvPr>
        </p:nvSpPr>
        <p:spPr>
          <a:xfrm>
            <a:off x="5020725" y="898350"/>
            <a:ext cx="4051200" cy="20301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r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Before using KNN is necessary </a:t>
            </a:r>
            <a:r>
              <a:rPr lang="fr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Scaling</a:t>
            </a:r>
            <a:r>
              <a:rPr lang="fr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fr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Normalization</a:t>
            </a:r>
            <a:r>
              <a:rPr lang="fr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fr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this case, if we didn’t treat NaN or infinites, the model wouldn’t work</a:t>
            </a:r>
            <a:br>
              <a:rPr lang="fr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rgbClr val="6796E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7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442" y="999966"/>
            <a:ext cx="3431134" cy="1928506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4"/>
          <a:srcRect b="9718"/>
          <a:stretch/>
        </p:blipFill>
        <p:spPr>
          <a:xfrm>
            <a:off x="375200" y="3030089"/>
            <a:ext cx="5315692" cy="1694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4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>
            <a:spLocks noGrp="1"/>
          </p:cNvSpPr>
          <p:nvPr>
            <p:ph type="title"/>
          </p:nvPr>
        </p:nvSpPr>
        <p:spPr>
          <a:xfrm>
            <a:off x="375200" y="290550"/>
            <a:ext cx="86967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" sz="2400" dirty="0"/>
              <a:t>4.d KNN – model splitting data and treatment</a:t>
            </a:r>
            <a:endParaRPr sz="2800" dirty="0"/>
          </a:p>
        </p:txBody>
      </p:sp>
      <p:sp>
        <p:nvSpPr>
          <p:cNvPr id="186" name="Google Shape;186;p28"/>
          <p:cNvSpPr txBox="1">
            <a:spLocks noGrp="1"/>
          </p:cNvSpPr>
          <p:nvPr>
            <p:ph type="body" idx="1"/>
          </p:nvPr>
        </p:nvSpPr>
        <p:spPr>
          <a:xfrm>
            <a:off x="5020725" y="1219200"/>
            <a:ext cx="4051200" cy="24288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indent="0">
              <a:spcBef>
                <a:spcPts val="1200"/>
              </a:spcBef>
              <a:buClr>
                <a:srgbClr val="000000"/>
              </a:buClr>
              <a:buSzPts val="1600"/>
              <a:buNone/>
            </a:pPr>
            <a:br>
              <a:rPr lang="fr" sz="16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Roboto Mono"/>
              </a:rPr>
            </a:br>
            <a:endParaRPr sz="1600" b="1" dirty="0">
              <a:solidFill>
                <a:srgbClr val="000000"/>
              </a:solidFill>
              <a:latin typeface="Arial"/>
              <a:ea typeface="Arial"/>
              <a:cs typeface="Arial"/>
              <a:sym typeface="Roboto Mon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fr" sz="16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Results:</a:t>
            </a:r>
            <a:br>
              <a:rPr lang="fr" sz="16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LcPeriod"/>
            </a:pPr>
            <a:r>
              <a:rPr lang="fr" sz="16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R² score</a:t>
            </a:r>
            <a:br>
              <a:rPr lang="fr" sz="16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LcPeriod"/>
            </a:pPr>
            <a:r>
              <a:rPr lang="fr" sz="16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MSE:</a:t>
            </a:r>
            <a:br>
              <a:rPr lang="fr" sz="16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rgbClr val="6796E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70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59" y="1014316"/>
            <a:ext cx="3810532" cy="1381318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4"/>
          <a:srcRect t="87046" r="58900" b="6152"/>
          <a:stretch/>
        </p:blipFill>
        <p:spPr>
          <a:xfrm>
            <a:off x="6918882" y="2456326"/>
            <a:ext cx="1857268" cy="50066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200" y="2456326"/>
            <a:ext cx="3901791" cy="1788824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4"/>
          <a:srcRect t="92939" r="58900"/>
          <a:stretch/>
        </p:blipFill>
        <p:spPr>
          <a:xfrm>
            <a:off x="6918882" y="3078319"/>
            <a:ext cx="1844125" cy="48646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4871767" y="898350"/>
            <a:ext cx="406268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Normalization and scaling are crucial in KNN regression because the algorithm relies on distance; without it, features with larger ranges dominate the predictions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743754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>
            <a:spLocks noGrp="1"/>
          </p:cNvSpPr>
          <p:nvPr>
            <p:ph type="title"/>
          </p:nvPr>
        </p:nvSpPr>
        <p:spPr>
          <a:xfrm>
            <a:off x="375200" y="290550"/>
            <a:ext cx="86967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800" dirty="0"/>
              <a:t>4.d KNN – model splitting data and treatment</a:t>
            </a:r>
            <a:endParaRPr sz="2900" dirty="0"/>
          </a:p>
        </p:txBody>
      </p:sp>
      <p:sp>
        <p:nvSpPr>
          <p:cNvPr id="171" name="Google Shape;171;p26"/>
          <p:cNvSpPr txBox="1">
            <a:spLocks noGrp="1"/>
          </p:cNvSpPr>
          <p:nvPr>
            <p:ph type="body" idx="1"/>
          </p:nvPr>
        </p:nvSpPr>
        <p:spPr>
          <a:xfrm>
            <a:off x="5020725" y="898350"/>
            <a:ext cx="4051200" cy="20301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fr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check how numbers of neighbors may impact </a:t>
            </a:r>
            <a:r>
              <a:rPr lang="fr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R2 and MSE</a:t>
            </a:r>
            <a:endParaRPr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fr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most optimal range for neighbors is around 3 and 6 </a:t>
            </a:r>
            <a:br>
              <a:rPr lang="fr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rgbClr val="6796E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7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391" y="3381299"/>
            <a:ext cx="3353268" cy="1086002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169" y="1228612"/>
            <a:ext cx="4349588" cy="16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348792"/>
      </p:ext>
    </p:extLst>
  </p:cSld>
  <p:clrMapOvr>
    <a:masterClrMapping/>
  </p:clrMapOvr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1391</Words>
  <Application>Microsoft Office PowerPoint</Application>
  <PresentationFormat>On-screen Show (16:9)</PresentationFormat>
  <Paragraphs>284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Roboto</vt:lpstr>
      <vt:lpstr>Arial</vt:lpstr>
      <vt:lpstr>Courier New</vt:lpstr>
      <vt:lpstr>Roboto Mono</vt:lpstr>
      <vt:lpstr>Geometric</vt:lpstr>
      <vt:lpstr>Machine learning : King-country-houses</vt:lpstr>
      <vt:lpstr>Table of Contents</vt:lpstr>
      <vt:lpstr>2. Explore the data </vt:lpstr>
      <vt:lpstr>2. Explore the data</vt:lpstr>
      <vt:lpstr>2. Explore the data</vt:lpstr>
      <vt:lpstr>3. Clean the data  </vt:lpstr>
      <vt:lpstr>3. Data cleaning - Feature selection </vt:lpstr>
      <vt:lpstr>3. Data cleaning - Feature selection </vt:lpstr>
      <vt:lpstr>3. Data cleaning - Removing outliers </vt:lpstr>
      <vt:lpstr>3. Data cleaning - Skewness correction  </vt:lpstr>
      <vt:lpstr>3. 1 Multilinear Regression - Initial model </vt:lpstr>
      <vt:lpstr>3. 1 Multilinear Regression - Feature Engineering impact  </vt:lpstr>
      <vt:lpstr>3. 1 Multilinear regression- Feature selection impact  </vt:lpstr>
      <vt:lpstr>3. 1 Multilinear regression - Feature selection impact  </vt:lpstr>
      <vt:lpstr>3. 1 Multilinear regression - Skewness correction  </vt:lpstr>
      <vt:lpstr>3. 1 Multilinear regression - skewness correction impact  </vt:lpstr>
      <vt:lpstr>3. 1 Multilinear regression - Ridge Regression  </vt:lpstr>
      <vt:lpstr>4. Machine Learning XGBoost  Regressor  </vt:lpstr>
      <vt:lpstr>4.a  Machine Learning - XGBoost Regressor   </vt:lpstr>
      <vt:lpstr>4.a  Machine Learning - XGBoost Regressor    </vt:lpstr>
      <vt:lpstr>4. Machine Learning CatBoost Regressor     </vt:lpstr>
      <vt:lpstr>4. Machine Learning - Adding features   </vt:lpstr>
      <vt:lpstr>4.b  Machine Learning - CatBoost Regressor    </vt:lpstr>
      <vt:lpstr>4. Machine Learning Random Forest Regressor     </vt:lpstr>
      <vt:lpstr>4.c  Machine Learning - Random Forest Regressor   </vt:lpstr>
      <vt:lpstr>4.C.1 . Feature Engineering and Normalization</vt:lpstr>
      <vt:lpstr>4.C.2. Feature Engineering and Standardization</vt:lpstr>
      <vt:lpstr>4.c  Machine Learning - Random Forest Regressor</vt:lpstr>
      <vt:lpstr>4.c  Machine Learning - Random Forest Regressor</vt:lpstr>
      <vt:lpstr>4.C Machine learning - Random Forest Regressor - Evaluation</vt:lpstr>
      <vt:lpstr>4.C Machine learning - Random Forest Regressor - Evaluation</vt:lpstr>
      <vt:lpstr>4.C Machine learning - Random Forest Regressor - Evaluation</vt:lpstr>
      <vt:lpstr>4. Machine Learning KNN Regressor     </vt:lpstr>
      <vt:lpstr>4.d Data cleaning - Removing outliers </vt:lpstr>
      <vt:lpstr>4.d KNN – model splitting data and treatment</vt:lpstr>
      <vt:lpstr>4.d 1 KNN – model splitting data and treatment</vt:lpstr>
      <vt:lpstr>4.d KNN – model splitting data and treatment</vt:lpstr>
      <vt:lpstr>4.d KNN – model splitting data and treatment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tlili maryem</dc:creator>
  <cp:lastModifiedBy>Maryem Tlili</cp:lastModifiedBy>
  <cp:revision>2</cp:revision>
  <dcterms:modified xsi:type="dcterms:W3CDTF">2025-11-29T12:33:40Z</dcterms:modified>
</cp:coreProperties>
</file>