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Roboto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.fntdata"/><Relationship Id="rId21" Type="http://schemas.openxmlformats.org/officeDocument/2006/relationships/slide" Target="slides/slide16.xml"/><Relationship Id="rId43" Type="http://schemas.openxmlformats.org/officeDocument/2006/relationships/font" Target="fonts/RobotoMon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Mon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62a78cc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b62a78cc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b62a78cc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b62a78cc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62a78cc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62a78cc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b62a78ccb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b62a78cc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62a78cc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62a78cc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b62a78cc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b62a78cc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b62a78cc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b62a78cc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62a78cc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62a78cc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62a78cc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b62a78cc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62a78cc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b62a78cc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b62a78cc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b62a78cc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62a78cc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62a78cc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b62a78cc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b62a78cc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62a78cc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b62a78cc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62a78cc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b62a78cc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b62a78ccb_0_1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b62a78cc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b62a78cc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b62a78cc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b62a78cc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b62a78cc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b62a78ccb_0_2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b62a78cc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b62a78cc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b62a78cc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b62a78ccb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b62a78ccb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b62a78ccb_0_2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b62a78ccb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b62a78ccb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b62a78ccb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b62a78ccb_4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b62a78ccb_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b62a78ccb_4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b62a78ccb_4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b62a78cc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b62a78cc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b62a78ccb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b62a78ccb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b62a78ccb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b62a78ccb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b62a78ccb_4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b62a78ccb_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b62a78ccb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b62a78ccb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b62a78ccb_0_2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b62a78cc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5"/>
            <a:ext cx="6103200" cy="7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Machine learning : King-country-houses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Vitor Almeida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Maryem Tlili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Jesus Hernandez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 of Contents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fr"/>
              <a:t>Load the Data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fr"/>
              <a:t>Explore the data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fr"/>
              <a:t>Clean the data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fr"/>
              <a:t>Machine Learning : 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lphaLcPeriod"/>
            </a:pPr>
            <a:r>
              <a:rPr lang="fr" sz="1800"/>
              <a:t>XGBoost Regressor 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lphaLcPeriod"/>
            </a:pPr>
            <a:r>
              <a:rPr lang="fr" sz="1800"/>
              <a:t>CatBoost Regressor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lphaLcPeriod"/>
            </a:pPr>
            <a:r>
              <a:rPr lang="fr" sz="1800"/>
              <a:t>Random Forest Regressor 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eriod"/>
            </a:pPr>
            <a:r>
              <a:rPr lang="fr" sz="1800"/>
              <a:t>KNN Regressor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Explore the data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Explore the data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 has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features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(21 Rows)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features are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numerical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except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“Date”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represents the date  of House Sold out.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is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with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missing or anomalous values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Explore the data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5400200" y="1157500"/>
            <a:ext cx="3616800" cy="21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correlations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observed between: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sqft_above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sqft_living grade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bathrooms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features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low correlation include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zipcode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00" y="1017800"/>
            <a:ext cx="4294885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Clean the data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Data cleaning - Feature selection 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06350" y="1017800"/>
            <a:ext cx="8331300" cy="3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id, date, view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Irrelevant for model learning.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sqft_living, sqft_above, sqft_basement, sqft_living15, sqft_lot15, lat, long</a:t>
            </a:r>
            <a:b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Redundant with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sqft_lot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all are correlated and describe the house size.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Overlaps with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provides similar information.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zipcode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Categorical but represented as numerical values; difficult for the model to interpret meaningfully.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yr_renovated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→low variability and limited predictive value.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Data cleaning - Feature selection 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5305800" y="898350"/>
            <a:ext cx="35265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removing redundant columns,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highly correlated features remain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dataset.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indicates a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risk of multicollinearity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ensuring the model can learn more effectively from the remaining features.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00" y="1284500"/>
            <a:ext cx="4251349" cy="324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Data cleaning - Removing outliers 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4656275" y="898350"/>
            <a:ext cx="44157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features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sqft_lot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contain a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number of outliers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these outliers for now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 removing them could exclude an entire segment of the housing market and reduce model representativeness.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Their impact may be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later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techniques such as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 transformation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75" y="1126075"/>
            <a:ext cx="4415699" cy="3320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Data cleaning - Skewness correction  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shows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skewed features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Skewness will be addressed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later if needed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depending on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and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sensitivity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skewness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46400"/>
            <a:ext cx="4351475" cy="2429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1 Multilinear Regression - Initial model 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4939175" y="117020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built an initial Multilinear model to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impact of the cleaning. 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 is low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this stage.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improve it, we will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 </a:t>
            </a:r>
            <a:r>
              <a:rPr b="1"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year_built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a new feature </a:t>
            </a:r>
            <a:r>
              <a:rPr b="1"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house_age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is easier for the model to interpret.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4786774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3. 1 </a:t>
            </a:r>
            <a:r>
              <a:rPr lang="fr" sz="2700"/>
              <a:t>Multilinear Regression</a:t>
            </a:r>
            <a:r>
              <a:rPr lang="fr" sz="2600"/>
              <a:t> - Feature Engineering impact </a:t>
            </a:r>
            <a:r>
              <a:rPr lang="fr" sz="2900"/>
              <a:t> </a:t>
            </a:r>
            <a:endParaRPr sz="2900"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Dropping </a:t>
            </a:r>
            <a:r>
              <a:rPr b="1"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year_built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slightly increased the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0.000024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score remains low.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step: build a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StatModel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analyze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p-values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identify the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significant features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4868324" cy="2603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900"/>
              <a:t>3. 1 Multilinear regression- Feature selection impact  </a:t>
            </a:r>
            <a:endParaRPr sz="2900"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bedrooms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floors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p-values &gt; 0.05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they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significantly impact the model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features will be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improve model performance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898350"/>
            <a:ext cx="4715925" cy="375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/>
          <p:nvPr/>
        </p:nvSpPr>
        <p:spPr>
          <a:xfrm>
            <a:off x="190500" y="3056475"/>
            <a:ext cx="3314700" cy="15240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90500" y="3488275"/>
            <a:ext cx="3314700" cy="15240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/>
              <a:t>3. 1 Multilinear regression - Feature selection impact </a:t>
            </a:r>
            <a:r>
              <a:rPr lang="fr" sz="2900"/>
              <a:t> </a:t>
            </a:r>
            <a:endParaRPr sz="2900"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removing </a:t>
            </a:r>
            <a:r>
              <a:rPr b="1"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floors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bedrooms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remained the same.</a:t>
            </a:r>
            <a:b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MSE (Mean Squared Error)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decreased slightly, indicating a </a:t>
            </a: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minor improvement in model accuracy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0" y="1050750"/>
            <a:ext cx="4715925" cy="258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/>
              <a:t>3. 1 Multilinear regression - Skewness correction </a:t>
            </a:r>
            <a:r>
              <a:rPr lang="fr" sz="2900"/>
              <a:t> </a:t>
            </a:r>
            <a:endParaRPr sz="2900"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156625" y="898350"/>
            <a:ext cx="4127400" cy="21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Right-skewed features: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sqft_lot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13.06)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4.02)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bathrooms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1.10)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waterfront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5.22)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grade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0.67)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9" name="Google Shape;179;p27"/>
          <p:cNvSpPr txBox="1"/>
          <p:nvPr/>
        </p:nvSpPr>
        <p:spPr>
          <a:xfrm>
            <a:off x="4474825" y="1037175"/>
            <a:ext cx="3784500" cy="22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Left-skewed feature: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f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house_age</a:t>
            </a:r>
            <a:r>
              <a:rPr lang="fr" sz="1500"/>
              <a:t> (skewness = -0.60)</a:t>
            </a:r>
            <a:br>
              <a:rPr lang="fr" sz="1500"/>
            </a:b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/>
            </a:b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397925" y="3323175"/>
            <a:ext cx="62103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Skewness may be contributing to </a:t>
            </a:r>
            <a:r>
              <a:rPr b="1" lang="fr" sz="1500"/>
              <a:t>low model performance</a:t>
            </a:r>
            <a:r>
              <a:rPr lang="fr" sz="1500"/>
              <a:t>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/>
              <a:t>Log transformation</a:t>
            </a:r>
            <a:r>
              <a:rPr lang="fr" sz="1500"/>
              <a:t> is considered for </a:t>
            </a:r>
            <a:r>
              <a:rPr lang="f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sqft_lot</a:t>
            </a:r>
            <a:r>
              <a:rPr lang="fr" sz="1500"/>
              <a:t> and </a:t>
            </a:r>
            <a:r>
              <a:rPr lang="f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fr" sz="1500"/>
              <a:t> due to </a:t>
            </a:r>
            <a:r>
              <a:rPr b="1" lang="fr" sz="1500"/>
              <a:t>high skewness and outliers</a:t>
            </a:r>
            <a:r>
              <a:rPr lang="fr" sz="1500"/>
              <a:t>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3. 1 Multilinear regression - skewness correction impact </a:t>
            </a:r>
            <a:r>
              <a:rPr lang="fr" sz="2800"/>
              <a:t> </a:t>
            </a:r>
            <a:endParaRPr sz="2800"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improved significantly to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0.63</a:t>
            </a:r>
            <a:b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decreased considerably →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improved</a:t>
            </a:r>
            <a:b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Apply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further enhance performance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0750"/>
            <a:ext cx="4715927" cy="3128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3. 1 Multilinear regression - Ridge Regression </a:t>
            </a:r>
            <a:r>
              <a:rPr lang="fr" sz="2800"/>
              <a:t> </a:t>
            </a:r>
            <a:endParaRPr sz="2800"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Applying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 regression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slightly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decreased the R² score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0.00004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that we may have reached the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performance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this dataset.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Explore a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model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the same dataset for potential improvement.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00" y="822150"/>
            <a:ext cx="4539711" cy="39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Machine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XGBoost  Regressor 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4.a </a:t>
            </a:r>
            <a:r>
              <a:rPr lang="fr" sz="2700"/>
              <a:t> Machine Learning - XGBoost Regressor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the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same dataset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Regressor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achieved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= 0.70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goal: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Improve XGBoost performance by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changing hyperparameters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Hyperparameter optimization methods: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Search / Optuna 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Calculations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will be performed using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8350"/>
            <a:ext cx="4715925" cy="3266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4.a  Machine Learning - XGBoost Regressor 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Search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hyperparameter: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 decreased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slightly to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0.69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might be very reduced and that is limiting the model performance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8350"/>
            <a:ext cx="4715925" cy="3084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Machine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CatBoost Regressor    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 Machine Learning - Adding features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588425" y="898350"/>
            <a:ext cx="84834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features to add: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condition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yr_renovated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long</a:t>
            </a:r>
            <a:b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yr_renovated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a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feature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house not renovated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house renovated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model: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Apply </a:t>
            </a: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CatBoost Regressor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updated dataset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4.b  Machine Learning - CatBoost Regressor 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 reached 0.88 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00" y="1136938"/>
            <a:ext cx="4715924" cy="2209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Machine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Random Forest Regressor    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4.c  Machine Learning - Random Forest Regressor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42" name="Google Shape;242;p37"/>
          <p:cNvSpPr txBox="1"/>
          <p:nvPr/>
        </p:nvSpPr>
        <p:spPr>
          <a:xfrm>
            <a:off x="651925" y="1595975"/>
            <a:ext cx="72897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had to make some specific data processing before running the Random Forest regressor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4.C.1 . Feature </a:t>
            </a:r>
            <a:r>
              <a:rPr lang="fr" sz="2400"/>
              <a:t>Engineering</a:t>
            </a:r>
            <a:r>
              <a:rPr lang="fr" sz="2400"/>
              <a:t> and Normalization</a:t>
            </a:r>
            <a:endParaRPr sz="2400"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311700" y="1229875"/>
            <a:ext cx="5191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fr"/>
              <a:t>Binary feature for renovation</a:t>
            </a:r>
            <a:endParaRPr b="1"/>
          </a:p>
        </p:txBody>
      </p:sp>
      <p:pic>
        <p:nvPicPr>
          <p:cNvPr id="249" name="Google Shape;24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229875"/>
            <a:ext cx="4886826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277700"/>
            <a:ext cx="39597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496850"/>
            <a:ext cx="4886825" cy="12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8"/>
          <p:cNvSpPr txBox="1"/>
          <p:nvPr/>
        </p:nvSpPr>
        <p:spPr>
          <a:xfrm>
            <a:off x="5262025" y="1143000"/>
            <a:ext cx="38100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/>
              <a:t>Binary feature for renovation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/>
              <a:t>House age: </a:t>
            </a:r>
            <a:r>
              <a:rPr lang="fr" sz="1600"/>
              <a:t>Transform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yr_built</a:t>
            </a:r>
            <a:r>
              <a:rPr lang="fr" sz="1600"/>
              <a:t> →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house_age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/>
              <a:t>Handling bad values: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Replace </a:t>
            </a:r>
            <a:r>
              <a:rPr b="1" lang="fr" sz="1600"/>
              <a:t>infinities</a:t>
            </a:r>
            <a:r>
              <a:rPr lang="fr" sz="1600"/>
              <a:t> or </a:t>
            </a:r>
            <a:r>
              <a:rPr b="1" lang="fr" sz="1600"/>
              <a:t>NaNs</a:t>
            </a:r>
            <a:r>
              <a:rPr lang="fr" sz="1600"/>
              <a:t> with the </a:t>
            </a:r>
            <a:r>
              <a:rPr b="1" lang="fr" sz="1600"/>
              <a:t>column median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/>
              <a:t>4.C.2. </a:t>
            </a:r>
            <a:r>
              <a:rPr lang="fr" sz="2300"/>
              <a:t>Feature Engineering and Standardization</a:t>
            </a:r>
            <a:endParaRPr sz="2300"/>
          </a:p>
        </p:txBody>
      </p:sp>
      <p:sp>
        <p:nvSpPr>
          <p:cNvPr id="258" name="Google Shape;258;p39"/>
          <p:cNvSpPr txBox="1"/>
          <p:nvPr>
            <p:ph idx="1" type="body"/>
          </p:nvPr>
        </p:nvSpPr>
        <p:spPr>
          <a:xfrm>
            <a:off x="311700" y="1229875"/>
            <a:ext cx="8520600" cy="9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8186589" cy="9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9"/>
          <p:cNvSpPr txBox="1"/>
          <p:nvPr/>
        </p:nvSpPr>
        <p:spPr>
          <a:xfrm>
            <a:off x="448725" y="2408075"/>
            <a:ext cx="7631400" cy="20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Limiting </a:t>
            </a:r>
            <a:r>
              <a:rPr b="1" lang="fr" sz="1600"/>
              <a:t>Top 1%  </a:t>
            </a:r>
            <a:r>
              <a:rPr lang="fr" sz="1600"/>
              <a:t>on the rows mentioned ( with more outliers ) reduced data size : </a:t>
            </a:r>
            <a:br>
              <a:rPr lang="fr" sz="1600"/>
            </a:b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From </a:t>
            </a:r>
            <a:r>
              <a:rPr b="1" lang="fr" sz="1600"/>
              <a:t>21,613 rows</a:t>
            </a:r>
            <a:r>
              <a:rPr lang="fr" sz="1600"/>
              <a:t> → </a:t>
            </a:r>
            <a:r>
              <a:rPr b="1" lang="fr" sz="1600"/>
              <a:t>20,536 rows</a:t>
            </a:r>
            <a:br>
              <a:rPr b="1" lang="fr" sz="1600"/>
            </a:b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endParaRPr b="1"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4.c  Machine Learning - Random Forest Regressor</a:t>
            </a:r>
            <a:endParaRPr/>
          </a:p>
        </p:txBody>
      </p:sp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311700" y="1229875"/>
            <a:ext cx="4856700" cy="18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75" y="1273963"/>
            <a:ext cx="4856650" cy="965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1" y="2361363"/>
            <a:ext cx="4856650" cy="75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 txBox="1"/>
          <p:nvPr/>
        </p:nvSpPr>
        <p:spPr>
          <a:xfrm>
            <a:off x="5350925" y="1273975"/>
            <a:ext cx="3632100" cy="22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I used np.log1p() to shrink the large numbers while keeping the small ones meaningful, also won’t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crash if divided by 0. 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Split the data 80% training and 20% testing. </a:t>
            </a:r>
            <a:endParaRPr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4.c  Machine Learning - Random Forest Regressor</a:t>
            </a:r>
            <a:endParaRPr/>
          </a:p>
        </p:txBody>
      </p:sp>
      <p:sp>
        <p:nvSpPr>
          <p:cNvPr id="275" name="Google Shape;275;p41"/>
          <p:cNvSpPr txBox="1"/>
          <p:nvPr>
            <p:ph idx="1" type="body"/>
          </p:nvPr>
        </p:nvSpPr>
        <p:spPr>
          <a:xfrm>
            <a:off x="311700" y="1229875"/>
            <a:ext cx="8520600" cy="24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40576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495" y="1229875"/>
            <a:ext cx="4308805" cy="24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 txBox="1"/>
          <p:nvPr/>
        </p:nvSpPr>
        <p:spPr>
          <a:xfrm>
            <a:off x="146600" y="3687325"/>
            <a:ext cx="7338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RandomForestRegressor Performance</a:t>
            </a:r>
            <a:endParaRPr b="1"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MSE : 8988373363.432673   _   RMSE: 94807.0322467309 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R² : 0.8491315430228875 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An R2 of approximately of 0.85 means the model is a good house predictor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4.C Machine learning - Random Forest Regressor - Evaluation</a:t>
            </a:r>
            <a:endParaRPr sz="2400"/>
          </a:p>
        </p:txBody>
      </p:sp>
      <p:sp>
        <p:nvSpPr>
          <p:cNvPr id="284" name="Google Shape;284;p42"/>
          <p:cNvSpPr txBox="1"/>
          <p:nvPr>
            <p:ph idx="1" type="body"/>
          </p:nvPr>
        </p:nvSpPr>
        <p:spPr>
          <a:xfrm>
            <a:off x="311700" y="1229875"/>
            <a:ext cx="85206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29863"/>
            <a:ext cx="393382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1050" y="1229863"/>
            <a:ext cx="23812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2"/>
          <p:cNvSpPr txBox="1"/>
          <p:nvPr/>
        </p:nvSpPr>
        <p:spPr>
          <a:xfrm>
            <a:off x="252725" y="3544450"/>
            <a:ext cx="84906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Feature importance: </a:t>
            </a:r>
            <a:endParaRPr b="1"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- The model creates a score for each column. 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- The score will tell how much it helped  reduce prediction error across all the trees. 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- The higher the number the more the model relied on the column.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4.C Machine learning - Random Forest Regressor - Evaluation</a:t>
            </a:r>
            <a:endParaRPr/>
          </a:p>
        </p:txBody>
      </p:sp>
      <p:pic>
        <p:nvPicPr>
          <p:cNvPr id="293" name="Google Shape;2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2822373" cy="202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625" y="1229869"/>
            <a:ext cx="2611675" cy="20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338400"/>
            <a:ext cx="384467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608225"/>
            <a:ext cx="3844675" cy="9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/>
          <p:cNvSpPr txBox="1"/>
          <p:nvPr/>
        </p:nvSpPr>
        <p:spPr>
          <a:xfrm>
            <a:off x="4156375" y="3338400"/>
            <a:ext cx="45051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With this test the model is off by 19% of a house pricing.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Pr</a:t>
            </a:r>
            <a:r>
              <a:rPr b="1"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edicted price: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406936.29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Actual price: 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538250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4.C Machine learning - Random Forest Regressor - Evaluation</a:t>
            </a:r>
            <a:endParaRPr/>
          </a:p>
        </p:txBody>
      </p:sp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2822373" cy="202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625" y="1229869"/>
            <a:ext cx="2611675" cy="20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338400"/>
            <a:ext cx="384467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608225"/>
            <a:ext cx="3844675" cy="9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4"/>
          <p:cNvSpPr txBox="1"/>
          <p:nvPr/>
        </p:nvSpPr>
        <p:spPr>
          <a:xfrm>
            <a:off x="4156375" y="3338400"/>
            <a:ext cx="45051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With this test the model is off by 19% of a house pricing.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Predicted price: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406936.29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Actual price: 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538250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Machine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KNN Regressor  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